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cd-serg.github.io/rpt/" TargetMode="External" /><Relationship Id="rId3" Type="http://schemas.openxmlformats.org/officeDocument/2006/relationships/hyperlink" Target="https://github.com/UCD-SERG/rpt" TargetMode="External" /><Relationship Id="rId4" Type="http://schemas.openxmlformats.org/officeDocument/2006/relationships/hyperlink" Target="https://quarto.org/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Advanced Quarto Article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UC Davis Seroepidemiology Research Group (UCD-SERG)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article demonstrates advanced features of Quarto for pkgdown articles. Unlike vignettes, articles are only available on the pkgdown website and are not included in the package bundle.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Articles vs Vignettes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Vignettes</a:t>
            </a:r>
            <a:r>
              <a:rPr/>
              <a:t> should be used for:</a:t>
            </a:r>
          </a:p>
          <a:p>
            <a:pPr lvl="0"/>
            <a:r>
              <a:rPr/>
              <a:t>Core package documentation</a:t>
            </a:r>
          </a:p>
          <a:p>
            <a:pPr lvl="0"/>
            <a:r>
              <a:rPr/>
              <a:t>Essential usage examples</a:t>
            </a:r>
          </a:p>
          <a:p>
            <a:pPr lvl="0"/>
            <a:r>
              <a:rPr/>
              <a:t>Content that users need offline</a:t>
            </a:r>
          </a:p>
          <a:p>
            <a:pPr lvl="0" indent="0" marL="0">
              <a:buNone/>
            </a:pPr>
            <a:r>
              <a:rPr b="1"/>
              <a:t>Articles</a:t>
            </a:r>
            <a:r>
              <a:rPr/>
              <a:t> are better for:</a:t>
            </a:r>
          </a:p>
          <a:p>
            <a:pPr lvl="0"/>
            <a:r>
              <a:rPr/>
              <a:t>Extended tutorials</a:t>
            </a:r>
          </a:p>
          <a:p>
            <a:pPr lvl="0"/>
            <a:r>
              <a:rPr/>
              <a:t>Case studies and detailed examples</a:t>
            </a:r>
          </a:p>
          <a:p>
            <a:pPr lvl="0"/>
            <a:r>
              <a:rPr/>
              <a:t>Content with large datasets or external dependencies</a:t>
            </a:r>
          </a:p>
          <a:p>
            <a:pPr lvl="0"/>
            <a:r>
              <a:rPr/>
              <a:t>Supplementary material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Advanced Quarto Features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Cross-References</a:t>
            </a:r>
          </a:p>
          <a:p>
            <a:pPr lvl="0" indent="0" marL="0">
              <a:buNone/>
            </a:pPr>
            <a:r>
              <a:rPr/>
              <a:t>Quarto makes it easy to create cross-references. For example, see Figure 1 for a scatter plot and Table 1 for a summary table.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Generate sample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scatter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"Example Scatter Plot"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 Variable"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 Variable"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rgb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abline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x),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quarto_article_files/figure-pptx/fig-sca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17500"/>
            <a:ext cx="51054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Scatter plot demonstrating cross-referencing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Tables</a:t>
            </a:r>
          </a:p>
          <a:p>
            <a:pPr lvl="0" indent="0" marL="0">
              <a:buNone/>
            </a:pPr>
            <a:r>
              <a:rPr/>
              <a:t>As shown in Table 1, the variables have similar distributions.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Folding</a:t>
            </a:r>
          </a:p>
          <a:p>
            <a:pPr lvl="0" indent="0" marL="0">
              <a:buNone/>
            </a:pPr>
            <a:r>
              <a:rPr/>
              <a:t>You can make code chunks foldable:</a:t>
            </a:r>
          </a:p>
          <a:p>
            <a:pPr lvl="0" indent="0">
              <a:buNone/>
            </a:pPr>
            <a:r>
              <a:rPr>
                <a:latin typeface="Courier"/>
              </a:rPr>
              <a:t>#&gt;   group value1.mean value1.sd value2.mean value2.sd
#&gt; 1     A   101.61247  14.63952   51.727220 10.047051
#&gt; 2     B    98.13191  13.84514   53.261796  8.934998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Tabsets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Plot View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Summary View</a:t>
            </a:r>
          </a:p>
          <a:p>
            <a:pPr lvl="0" indent="0">
              <a:buNone/>
            </a:pPr>
            <a:r>
              <a:rPr>
                <a:latin typeface="Courier"/>
              </a:rPr>
              <a:t>#&gt;        id           group               value1           value2     
#&gt;  Min.   : 1.00   Length:50          Min.   : 79.60   Min.   :32.43  
#&gt;  1st Qu.:13.25   Class :character   1st Qu.: 89.29   1st Qu.:46.76  
#&gt;  Median :25.50   Mode  :character   Median : 96.64   Median :51.04  
#&gt;  Mean   :25.50                      Mean   : 99.87   Mean   :52.49  
#&gt;  3rd Qu.:37.75                      3rd Qu.:107.93   3rd Qu.:59.34  
#&gt;  Max.   :50.00                      Max.   :132.98   Max.   :72.93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Raw Data</a:t>
            </a:r>
          </a:p>
          <a:p>
            <a:pPr lvl="0" indent="0">
              <a:buNone/>
            </a:pPr>
            <a:r>
              <a:rPr>
                <a:latin typeface="Courier"/>
              </a:rPr>
              <a:t>#&gt;    id group    value1   value2
#&gt; 1   1     A 132.98216 46.24397
#&gt; 2   2     A 119.68619 44.38124
#&gt; 3   3     A  96.02282 46.56083
#&gt; 4   4     A 108.14791 50.90497
#&gt; 5   5     A  93.78490 65.98509
#&gt; 6   6     A  92.85630 49.11435
#&gt; 7   7     A  88.17096 60.80799
#&gt; 8   8     A  91.08074 56.30754
#&gt; 9   9     A 124.76361 48.86360
#&gt; 10 10     A  99.18958 34.67098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Advanced Callouts</a:t>
            </a:r>
          </a:p>
          <a:p>
            <a:pPr lvl="0" indent="0" marL="1270000">
              <a:buNone/>
            </a:pPr>
            <a:r>
              <a:rPr sz="2000" b="1"/>
              <a:t>Important Considerations</a:t>
            </a:r>
          </a:p>
          <a:p>
            <a:pPr lvl="0" indent="0" marL="1270000">
              <a:buNone/>
            </a:pPr>
            <a:r>
              <a:rPr sz="2000"/>
              <a:t>When using this package in production:</a:t>
            </a:r>
          </a:p>
          <a:p>
            <a:pPr lvl="0" indent="-342900" marL="342900">
              <a:buAutoNum type="arabicPeriod"/>
            </a:pPr>
            <a:r>
              <a:rPr sz="2000"/>
              <a:t>Always validate input data</a:t>
            </a:r>
          </a:p>
          <a:p>
            <a:pPr lvl="0" indent="-342900" marL="342900">
              <a:buAutoNum type="arabicPeriod"/>
            </a:pPr>
            <a:r>
              <a:rPr sz="2000"/>
              <a:t>Check for missing values</a:t>
            </a:r>
          </a:p>
          <a:p>
            <a:pPr lvl="0" indent="-342900" marL="342900">
              <a:buAutoNum type="arabicPeriod"/>
            </a:pPr>
            <a:r>
              <a:rPr sz="2000"/>
              <a:t>Consider computational complexity</a:t>
            </a:r>
          </a:p>
          <a:p>
            <a:pPr lvl="0" indent="0" marL="1270000">
              <a:buNone/>
            </a:pPr>
            <a:r>
              <a:rPr sz="2000" b="1"/>
              <a:t>Performance Warning</a:t>
            </a:r>
          </a:p>
          <a:p>
            <a:pPr lvl="0" indent="0" marL="1270000">
              <a:buNone/>
            </a:pPr>
            <a:r>
              <a:rPr sz="2000"/>
              <a:t>Large datasets may require additional memory and processing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Columns Layout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Left Column</a:t>
            </a:r>
          </a:p>
          <a:p>
            <a:pPr lvl="0" indent="0" marL="0">
              <a:buNone/>
            </a:pPr>
            <a:r>
              <a:rPr/>
              <a:t>This demonstrates a two-column layout in Quarto.</a:t>
            </a:r>
          </a:p>
          <a:p>
            <a:pPr lvl="0"/>
            <a:r>
              <a:rPr/>
              <a:t>Feature 1</a:t>
            </a:r>
          </a:p>
          <a:p>
            <a:pPr lvl="0"/>
            <a:r>
              <a:rPr/>
              <a:t>Feature 2</a:t>
            </a:r>
          </a:p>
          <a:p>
            <a:pPr lvl="0"/>
            <a:r>
              <a:rPr/>
              <a:t>Feature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Right Column</a:t>
            </a:r>
          </a:p>
          <a:p>
            <a:pPr lvl="0" indent="0" marL="0">
              <a:buNone/>
            </a:pPr>
            <a:r>
              <a:rPr/>
              <a:t>You can place different content in each column.</a:t>
            </a:r>
          </a:p>
        </p:txBody>
      </p:sp>
      <p:pic>
        <p:nvPicPr>
          <p:cNvPr descr="quarto_article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6637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with Package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how to use the package’s example function with different inputs:</a:t>
            </a:r>
          </a:p>
          <a:p>
            <a:pPr lvl="0" indent="0">
              <a:buNone/>
            </a:pPr>
            <a:r>
              <a:rPr>
                <a:latin typeface="Courier"/>
              </a:rPr>
              <a:t>#&gt; [1] 15
#&gt; [1] 47.42519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supports code annotations for detailed explanations:</a:t>
            </a:r>
          </a:p>
          <a:p>
            <a:pPr lvl="0" indent="0">
              <a:buNone/>
            </a:pPr>
            <a:r>
              <a:rPr>
                <a:latin typeface="Courier"/>
              </a:rPr>
              <a:t>#&gt; [1] 3</a:t>
            </a:r>
          </a:p>
          <a:p>
            <a:pPr lvl="0" indent="-342900" marL="342900">
              <a:buAutoNum type="arabicPeriod"/>
            </a:pPr>
            <a:r>
              <a:rPr/>
              <a:t>Load sample data</a:t>
            </a:r>
          </a:p>
          <a:p>
            <a:pPr lvl="0" indent="-342900" marL="342900">
              <a:buAutoNum type="arabicPeriod"/>
            </a:pPr>
            <a:r>
              <a:rPr/>
              <a:t>Create a simple numeric vector</a:t>
            </a:r>
          </a:p>
          <a:p>
            <a:pPr lvl="0" indent="-342900" marL="342900">
              <a:buAutoNum type="arabicPeriod"/>
            </a:pPr>
            <a:r>
              <a:rPr/>
              <a:t>Apply the example function from the package</a:t>
            </a:r>
          </a:p>
          <a:p>
            <a:pPr lvl="0" indent="-342900" marL="342900">
              <a:buAutoNum type="arabicPeriod"/>
            </a:pPr>
            <a:r>
              <a:rPr/>
              <a:t>Display the results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Diagrams with Mermaid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quarto_article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84400"/>
            <a:ext cx="5105400" cy="40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Package workflow diagram 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Mathematical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Quarto excels at mathematical notation. Here’s an example of a statistical formula:</a:t>
                </a:r>
              </a:p>
              <a:p>
                <a:pPr lvl="0" indent="0" marL="0">
                  <a:buNone/>
                </a:pPr>
                <a:r>
                  <a:rPr/>
                  <a:t>The standard error of the mean is calculated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is the sample standard deviation and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sample size.</a:t>
                </a:r>
              </a:p>
              <a:p>
                <a:pPr lvl="0" indent="0" marL="0">
                  <a:buNone/>
                </a:pPr>
                <a:r>
                  <a:rPr/>
                  <a:t>For a confidence interval: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±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S</m:t>
                      </m:r>
                      <m:r>
                        <m:t>E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Expanding tip section</a:t>
            </a:r>
          </a:p>
          <a:p>
            <a:pPr lvl="0" indent="0" marL="1270000">
              <a:buNone/>
            </a:pPr>
            <a:r>
              <a:rPr sz="2000"/>
              <a:t>Click to expand this section for additional tips:</a:t>
            </a:r>
          </a:p>
          <a:p>
            <a:pPr lvl="0" indent="-342900" marL="342900">
              <a:buAutoNum type="arabicPeriod"/>
            </a:pPr>
            <a:r>
              <a:rPr sz="2000"/>
              <a:t>Use descriptive chunk labels for better organization</a:t>
            </a:r>
          </a:p>
          <a:p>
            <a:pPr lvl="0" indent="-342900" marL="342900">
              <a:buAutoNum type="arabicPeriod"/>
            </a:pPr>
            <a:r>
              <a:rPr sz="2000"/>
              <a:t>Set global chunk options at the beginning</a:t>
            </a:r>
          </a:p>
          <a:p>
            <a:pPr lvl="0" indent="-342900" marL="342900">
              <a:buAutoNum type="arabicPeriod"/>
            </a:pPr>
            <a:r>
              <a:rPr sz="2000"/>
              <a:t>Use cross-references to link related content</a:t>
            </a:r>
          </a:p>
          <a:p>
            <a:pPr lvl="0" indent="-342900" marL="342900">
              <a:buAutoNum type="arabicPeriod"/>
            </a:pPr>
            <a:r>
              <a:rPr sz="2000"/>
              <a:t>Leverage callouts for important information</a:t>
            </a:r>
          </a:p>
          <a:p>
            <a:pPr lvl="0" indent="-342900" marL="342900">
              <a:buAutoNum type="arabicPeriod"/>
            </a:pPr>
            <a:r>
              <a:rPr sz="2000"/>
              <a:t>Consider code folding for long code blocks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article demonstrates the advanced capabilities of Quarto for creating rich, interactive documentation for R packages. The integration with pkgdown makes it easy to create professional package websites.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Visit the </a:t>
            </a:r>
            <a:r>
              <a:rPr>
                <a:hlinkClick r:id="rId2"/>
              </a:rPr>
              <a:t>package website</a:t>
            </a:r>
          </a:p>
          <a:p>
            <a:pPr lvl="0"/>
            <a:r>
              <a:rPr/>
              <a:t>Check out the </a:t>
            </a:r>
            <a:r>
              <a:rPr>
                <a:hlinkClick r:id="rId3"/>
              </a:rPr>
              <a:t>GitHub repository</a:t>
            </a:r>
          </a:p>
          <a:p>
            <a:pPr lvl="0"/>
            <a:r>
              <a:rPr/>
              <a:t>Read the </a:t>
            </a:r>
            <a:r>
              <a:rPr>
                <a:hlinkClick r:id="rId4"/>
              </a:rPr>
              <a:t>Quarto documentation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Quarto Article</dc:title>
  <dc:creator>UC Davis Seroepidemiology Research Group (UCD-SERG)</dc:creator>
  <cp:keywords/>
  <dcterms:created xsi:type="dcterms:W3CDTF">2026-01-29T06:44:19Z</dcterms:created>
  <dcterms:modified xsi:type="dcterms:W3CDTF">2026-01-29T06:44:19Z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date">
    <vt:lpwstr>2026-01-29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pkgdown">
    <vt:lpwstr/>
  </property>
  <property fmtid="{D5CDD505-2E9C-101B-9397-08002B2CF9AE}" pid="12" name="toc-title">
    <vt:lpwstr>Table of contents</vt:lpwstr>
  </property>
</Properties>
</file>